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436" r:id="rId18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7829-Creative-Digital-Art-and-Design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0"/>
            <a:ext cx="1828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82512" y="0"/>
            <a:ext cx="182880" cy="6858000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47104" y="0"/>
            <a:ext cx="18288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749808" cy="7498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1517904"/>
            <a:ext cx="53492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4406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700" b="1">
                <a:solidFill>
                  <a:srgbClr val="161B26"/>
                </a:solidFill>
                <a:latin typeface="Arial"/>
              </a:rPr>
              <a:t>Creative Digital Art and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520440"/>
            <a:ext cx="5257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From confident sketch to purposeful, refined digital artwork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4315968"/>
            <a:ext cx="2148840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590288"/>
            <a:ext cx="5349240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Course Code: TGS-2023037829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Trainer: Dr. Alfred Ang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925312"/>
            <a:ext cx="4937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v8.0 · 19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089904"/>
            <a:ext cx="3566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Concept visual · Original AI-generated artwork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AM attendance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Scan the SSG QR code at the start of each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PM attendance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Scan again after lunch when instructed.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separate attendance event applies before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Attendance threshold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At least 75% attendance is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GENERAL 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Trainer Profile · General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246120" cy="4251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7632" y="2212848"/>
            <a:ext cx="1536192" cy="15361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212848"/>
            <a:ext cx="1536192" cy="1536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41648"/>
            <a:ext cx="278892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Appointed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81728"/>
            <a:ext cx="278892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Tertiary Infotech Academy
course facilitator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83080"/>
            <a:ext cx="7040880" cy="579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783080"/>
            <a:ext cx="73152" cy="579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47088"/>
            <a:ext cx="6537960" cy="4693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Digital art and design facilitator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517648"/>
            <a:ext cx="7040880" cy="579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2517648"/>
            <a:ext cx="73152" cy="579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2581656"/>
            <a:ext cx="6537960" cy="4693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DESIGNATION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Appointed WSQ trainer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3252216"/>
            <a:ext cx="7040880" cy="579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3252216"/>
            <a:ext cx="73152" cy="5791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3316224"/>
            <a:ext cx="6537960" cy="4693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Relevant design and adult-learning credentials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986784"/>
            <a:ext cx="7040880" cy="579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3986784"/>
            <a:ext cx="73152" cy="579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4050792"/>
            <a:ext cx="6537960" cy="4693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Procreate, Sketchbook Studio and visual communication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4721352"/>
            <a:ext cx="7040880" cy="579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0832" y="4721352"/>
            <a:ext cx="73152" cy="579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4785360"/>
            <a:ext cx="6537960" cy="4693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TRAINING EXPERIENCE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Applied studio facilitation, critique and learner support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5455920"/>
            <a:ext cx="7040880" cy="579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5455920"/>
            <a:ext cx="73152" cy="579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5519928"/>
            <a:ext cx="6537960" cy="4693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PROVIDER CONTACT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246120" cy="4251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7632" y="2212848"/>
            <a:ext cx="1536192" cy="153619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212848"/>
            <a:ext cx="1536192" cy="1536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41648"/>
            <a:ext cx="278892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81728"/>
            <a:ext cx="278892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
Tertiary Infotech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83080"/>
            <a:ext cx="7040880" cy="9464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783080"/>
            <a:ext cx="73152" cy="9464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47088"/>
            <a:ext cx="6537960" cy="8366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Principal Trainer and courseware lead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884932"/>
            <a:ext cx="7040880" cy="9464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2884932"/>
            <a:ext cx="73152" cy="9464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2948940"/>
            <a:ext cx="6537960" cy="8366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PRACTICE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Digital creativity, design systems and applied technology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3986784"/>
            <a:ext cx="7040880" cy="9464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3986784"/>
            <a:ext cx="73152" cy="9464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4050792"/>
            <a:ext cx="6537960" cy="8366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WSQ adult-learning programmes and industry workshops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5088636"/>
            <a:ext cx="7040880" cy="9464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5088636"/>
            <a:ext cx="73152" cy="9464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5152644"/>
            <a:ext cx="6537960" cy="8366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FOCUS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Make creative tools understandable, purposeful and transferable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33101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Your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Name, role and the kinds of visual work you make or commission.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874519"/>
            <a:ext cx="33101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Your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Tablet, stylus and experience with Procreate or Sketchbook Studio.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874519"/>
            <a:ext cx="33101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Your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 visual capability you want to use after the course.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STUDIO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1336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33600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Experiment, ask and share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12679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33600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33600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Critique the work, never the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43072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243072"/>
            <a:ext cx="77724" cy="12679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62102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21024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389376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Focus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Silence phones and keep one conversation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243072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243072"/>
            <a:ext cx="77724" cy="12679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62102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621024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3389376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Punctuality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Return from breaks ready to create.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30496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730496"/>
            <a:ext cx="77724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51084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108448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876800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Originality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owned or rights-safe reference material.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730496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730496"/>
            <a:ext cx="77724" cy="12679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1084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108448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5180" y="4876800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Maintain the WSQ minimum of 75%.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THREE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33101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Aesthetics, briefs, sensory cues, planning, sketching and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874519"/>
            <a:ext cx="33101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Brushes, colour, form, layers, perspective, depth and overlays.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874519"/>
            <a:ext cx="33101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Critique, emotion, accessibility, sustainability and refinement.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9:00 AM–6:00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· Days 1–2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DAY 1 · FOUNDATIONS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Aesthetic intent and sensory meaning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Briefs, mood boards and sketching · Labs 1–4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DAY 2 · TECHNIQUE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Brush, colour, form, layers and perspective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Progressive production · Labs 5–9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FINAL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· Day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DESIGN REVIEW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Overlays, emotional design, accessibility and critique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Advanced production · Labs 10–12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ASSESSMENT · 4:00–6:00 PM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Written Assessment: 60 minutes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Practical Performance: 60 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3368040" cy="42428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42428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362102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21024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2289048" cy="4023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LO1: Identify aesthetic design elements that incorporate sensory appeal in product and service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55648"/>
            <a:ext cx="3368040" cy="42428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9600" y="1755648"/>
            <a:ext cx="77724" cy="42428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48200" y="3621024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8200" y="3621024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0" y="1901952"/>
            <a:ext cx="2289048" cy="4023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LO2: Assess and propose design changes that balance function and aesthetic appeal.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55648"/>
            <a:ext cx="3368040" cy="42428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1960" y="1755648"/>
            <a:ext cx="77724" cy="42428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90560" y="362102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0560" y="3621024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6360" y="1901952"/>
            <a:ext cx="2289048" cy="4023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LO3: Review and create digital artwork that builds positive associations without overloading users' senses.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33101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Aesthetic and Design Sensibility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Technical Skills and Competency
DSN-DES-4022-1.1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874519"/>
            <a:ext cx="33101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K1–K10 · aesthetics, bias, function, colour, form, good and emotional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874519"/>
            <a:ext cx="33101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A1–A5 · diagnose, trade off, enhance, review and develop new aesthetics.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1336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33600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Individual work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No discussion; answer in your own 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12679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33600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33600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43072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243072"/>
            <a:ext cx="77724" cy="12679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62102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21024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389376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Clear workspace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Phones and other materials under the 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243072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243072"/>
            <a:ext cx="77724" cy="12679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62102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621024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3389376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No photos or recording of scripts.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30496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730496"/>
            <a:ext cx="77724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51084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108448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876800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Hard copy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black or blue pen; no correction fluid.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730496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730496"/>
            <a:ext cx="77724" cy="12679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1084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108448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5180" y="4876800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Upload completed answers and evidence to the LMS.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OPEN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33101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WA · 60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10 open-ended questions covering K1–K10.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874519"/>
            <a:ext cx="33101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PP · 60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5 applied design tasks covering A1–A5.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874519"/>
            <a:ext cx="33101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Competency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Pass every prescribed criterion and maintain at least 75% attendance.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940356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94035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9946" y="253288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946" y="2532888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1720900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TRAQOM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452" y="3566160"/>
            <a:ext cx="2743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5340" y="2148840"/>
            <a:ext cx="1940356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5340" y="2148840"/>
            <a:ext cx="194035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8046" y="253288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8046" y="2532888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5068" y="3566160"/>
            <a:ext cx="1720900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6552" y="3566160"/>
            <a:ext cx="2743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3440" y="2148840"/>
            <a:ext cx="1940356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3440" y="2148840"/>
            <a:ext cx="194035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6" y="253288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6" y="2532888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3168" y="3566160"/>
            <a:ext cx="1720900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Sit WA then PP ·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4652" y="3566160"/>
            <a:ext cx="2743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1540" y="2148840"/>
            <a:ext cx="1940356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1540" y="2148840"/>
            <a:ext cx="194035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4246" y="253288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4246" y="2532888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1268" y="3566160"/>
            <a:ext cx="1720900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2752" y="3566160"/>
            <a:ext cx="2743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89640" y="2148840"/>
            <a:ext cx="1940356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89640" y="2148840"/>
            <a:ext cx="194035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2346" y="253288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2346" y="2532888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9368" y="3566160"/>
            <a:ext cx="1720900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73936"/>
            <a:ext cx="1051560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Each lab has its own folder, detailed Markdown guide and matching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78608"/>
            <a:ext cx="5166360" cy="23591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578608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07792"/>
            <a:ext cx="46177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39312"/>
            <a:ext cx="4617720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git clone https://github.com/tertiarycourses/TGS-2023037829-Creative-Digital-Art-and-Design.git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78608"/>
            <a:ext cx="5166360" cy="23591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578608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907792"/>
            <a:ext cx="46177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OPTION B · DOWNLOAD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3639312"/>
            <a:ext cx="4617720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GitHub → Code →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5257800"/>
            <a:ext cx="104698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https://github.com/tertiarycourses/TGS-2023037829-Creative-Digital-Art-and-Design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CHOOSE BY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 Platforms, One Design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PROCREATE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Deep brush engine, advanced layers, masks and blend modes.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Perspective, isometric, 2D and symmetry drawing guides.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SKETCHBOOK STUDIO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Free pressure-sensitive pen, pencil, marker, crayon and watercolour tools.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Layers, ruler, symmetry, page templates, tracing overlay, filters and AR preview.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1 · K1 · K2 · K3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9875520" cy="1353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Fundamentals of Aesthetics in Digital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931920"/>
            <a:ext cx="8778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From intent and sensory meaning to confident marks and viable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"/>
            <a:ext cx="1828800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DFE6E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Aesthetics is experienced 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Form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Line, shape, colour, texture, space and motion.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Where, why and by whom the work is experienced.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Association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Memories and cultural meanings carried by cues.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Attention, emotion, comprehension and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coursera.org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Aesthetics is experienced meaning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Name the intended response before choosing a style.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Judge visual choices against audience and purpose.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Adding effects because they look fashionable.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Treating personal taste as universal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coursera.org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If the image were restyled, would the intended meaning survive?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Aesthetics is not decoration; it is how form, context and sensory cues shape interpretation.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coursera.org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pigment to pixels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Traditional roots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Drawing, painting, printmaking and photography.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Early digital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Pixel constraints created deliberate grid-based forms.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Desktop era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Raster and vector tools expanded editing and reproduction.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Tablet era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Pressure, tilt and touch reintroduced direct hand control.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coursera.org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pigment to pixels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Borrow timeless principles while using digital affordances.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Let the medium change workflow, not artistic intent.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Assuming software automatically creates quality.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Imitating analog texture without understanding its role.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coursera.org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Which part of the result depends on judgement rather than the app?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Digital art extends traditional mark-making with reversibility, layers, computation and rapid distribution.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coursera.org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forms evolve with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Pixel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Small units reward silhouette and controlled contrast.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Vector-like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Clean geometric edges communicate precision.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Painterly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Visible texture and variation suggest human touch.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Hybrid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Photography, drawing, type and effects can coexist.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21-draw.com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forms evolve with constraints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a form language that fits the viewing distance.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Design for the final output, not only the working canvas.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tiny detail for mobile viewing.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Scaling low-resolution work beyond its intended size.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21-draw.com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Can the essential silhouette and message survive at thumbnail size?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Resolution, display, interaction and distribution influence what visual forms become practical and persuasive.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21-draw.com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Aesthetics creates product and service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Recognition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consistent visual voice makes an offer memorable.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Trust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Coherence and craft signal care and competence.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Usability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Hierarchy guides the eye toward the next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Emotion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Tone and imagery create anticipation and belonging.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Aesthetics creates product and service value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aesthetics to clarify the service promise.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brand signals consistent across touchpoints.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Letting beauty hide essential instructions.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premium cues that conflict with the real service.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What promise does the design make before the user reads a word?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Aesthetic choices signal quality, improve comprehension and form expectations before use begins.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Translate non-visual cues into visible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Sound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Rhythm, repetition, sharpness and spacing imply tempo.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Touch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Edges, grain and material texture imply surface.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Smell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Colour, atmosphere and familiar objects trigger memory.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Temperature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Hue, contrast and haze suggest warm or cool air.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online.njit.edu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Translate non-visual cues into visible form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multiple reinforcing cues for the same sensation.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associations with the intended audience.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Relying on one ambiguous symbol.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Overloading every sense cue at equal intensity.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online.njit.edu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Ask viewers for three adjectives before revealing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Visual art can imply sound, touch, smell and temperature through learned associations.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online.njit.edu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Interrogate the design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Audience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Who sees it, in what state and with what prior knowledge?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Need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What problem or opportunity must the work address?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Format, accessibility, time, brand and production limits.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Success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Observable criteria for comprehension and response.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Interrogate the design brief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Rewrite vague adjectives as observable criteria.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Separate non-negotiables from creative freedoms.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Starting production before resolving contradictions.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Treating all stakeholder requests as equal priorities.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Can another designer judge the outcome without asking what 'modern' means?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useful brief connects audience, need, message, constraints and evidence of success.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Audience is a design variable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Capability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Vision, dexterity, language and digital familiarity.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Motivation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What the viewer wants or fears.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Culture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Shared meanings, conventions and sensitivities.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Environment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Screen, light, distance, distraction and time pressure.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21-draw.com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Audience is a design variable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Design for a real moment of use.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Include edge cases during concept evaluation.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Inventing a generic 'average user'.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Assuming the creator's interpretation is obvious.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21-draw.com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Who is excluded if the design is viewed quickly, outdoors or on a small screen?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same visual can be inviting, confusing or inappropriate for different users and contexts.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21-draw.com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an artistic intention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Subject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What is depicted?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Message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What should the viewer understand?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Mood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What should the viewer feel?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What should happen next?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medium.com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an artistic intention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Write one sentence before gathering references.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intention as a filter during critique.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Collecting references without a question.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Changing style whenever a new effect appears.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medium.com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Complete: 'For [audience], this work should make [idea] feel [emotion].'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short intention statement keeps style, technique and content pulling in the same direction.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medium.com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Diverge before you converge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Fluency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Generate many options quickly.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Flexibility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Change viewpoint, metaphor, medium or mood.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Selection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Compare options against explicit criteria.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Combination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Merge the strongest features into a new direction.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wikihow.com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Diverge before you converge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a time box and quantity target for thumbnails.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Delay polish until a direction earns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Rendering one idea too soon.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Selecting only on personal excitement.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wikihow.com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If three thumbnails share the same composition, are they really alternatives?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Early variety prevents the first plausible idea from becoming the only idea.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wikihow.com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Thumbnail composition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Focal point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One area claims first attention.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Path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Shapes and contrast move the eye intentionally.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Balance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Visual weight feels stable or deliberately tense.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Space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Positive and negative shapes reinforce the message.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21-draw.com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Thumbnail composition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Judge thumbnails at arm's length.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crop, scale and value—not decoration.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detail to rescue weak structure.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Putting every important element at the centre.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21-draw.com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Squint: can you still see the focal hierarchy?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Small, fast studies reveal balance, hierarchy and movement before detail creates attachment.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21-draw.com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Mood boards are evidence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Palette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limited family tied to the intended mood.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Form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Repeated shapes, proportions and edge qualities.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Texture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Material and mark references.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Exclusions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What the direction deliberately avoids.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creativebloq.com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Mood boards are evidence boards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Annotate why each reference matters.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rights-safe references and record sources.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Copying a finished composition.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Mixing incompatible styles without hierarchy.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creativebloq.com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Can every image be defended with a specific criterion from the brief?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mood board should explain a design direction, not merely collect attractive pictures.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 · creativebloq.com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hierarchy earns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Primary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one message or subject that must land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Secondary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Support that explains or contextualises.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Tertiary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Detail rewarded after comprehension.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Quiet space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Rest that makes emphasis possible.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hierarchy earns attention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contrast selectively where decisions matter.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Reduce competing accents before adding a new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Making every element bold and saturated.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Confusing symmetry with clear hierarchy.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Trace the first three eye fixations—do they follow the intended story?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Size, value, colour, placement, detail and isolation determine what viewers notice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a tool and canvas deliberately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Procreate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Deep brush engine, masks, guides, adjustments and advanced compositing.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Sketchbook Studio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Free iPad sketching with pressure brushes, layers, ruler, guides and filters.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Canvas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Pixel dimensions determine detail, layer capacity and output size.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Format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Working files preserve layers; PNG/JPEG/PDF serve delivery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a tool and canvas deliberately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to target dimensions and retain an editable master.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both apps for equivalent artistic intent.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a universal canvas size for every output.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Flattening before the work is approved.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What is the smallest file that preserves the evidence and future edits you need?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app, canvas dimensions, colour profile and export format should follow the use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FOUNDATION · 45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 · Mark-Making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6903720" cy="185623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6446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REAL-USE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465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community arts centre needs a welcoming visual vocabulary for beginner workshop 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55648"/>
            <a:ext cx="3474720" cy="1856231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93392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42032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Junior digital illustrator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614476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labelled mark sheet with twelve pressure, speed and opacity variations.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33087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507992"/>
            <a:ext cx="3657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Canvas setup · stylus control · brush size · opacity · undo/redo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K1 · K2 · LO1 · DISCUSS, DO NOT COPY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 · Acceptance &amp;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12 visibly different 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At least three pressure responses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Readable grouping at fit-to-screen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4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Layered working file plus 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FOUNDATION · 60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02 · Observational Sketch: Café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6903720" cy="185623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6446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REAL-USE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465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neighbourhood café needs a hand-drawn icon of a ceramic cup and leaf for a seasonal menu.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55648"/>
            <a:ext cx="3474720" cy="1856231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93392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42032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Editorial illustrator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614476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clean observational sketch built from primitives, landmarks and negative space.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33087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507992"/>
            <a:ext cx="3657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Gesture · shape construction · proportion · line weight · reference overlay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K10 · A1 · LO1 · DISCUSS, DO NOT COPY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02 · Acceptance &amp;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Primitive construction remains visible on a separate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Proportion checked using two landmarks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Final line weight shows overlap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4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Reference source recorded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FOUNDATION · 60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 · Brush and Texture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6903720" cy="185623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6446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REAL-USE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465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sustainable packaging studio wants a small repeatable texture kit for paper, ink and foliage.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55648"/>
            <a:ext cx="3474720" cy="1856231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93392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42032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Surface-design assistant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614476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brush specimen board and a reusable three-brush mini library.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33087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507992"/>
            <a:ext cx="3657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Brush families · pressure response · grain · spacing · texture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K2 · K5 · LO1 · DISCUSS, DO NOT COPY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 · Acceptance &amp;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Specimen board compares edge, opacity and grain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Three brushes have distinct roles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Texture remains subordinate to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4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Brush choices documented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FOUNDATION · 75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 · Mood Board from a Real 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6903720" cy="185623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6446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REAL-USE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465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wellness pop-up requests a calm but energetic launch illustration for working adults.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55648"/>
            <a:ext cx="3474720" cy="1856231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93392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42032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Visual concept designer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614476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 annotated mood board, three thumbnails and one selected direction.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33087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507992"/>
            <a:ext cx="3657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Brief analysis · audience · sensory cues · palette · thumbnail composition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K2 · K3 · A1 · LO1 · DISCUSS, DO NOT COPY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 · Acceptance &amp;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Every reference maps to a brief criterion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At least three genuinely different thumbnails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Palette has dominant/support/accent roles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4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Selection rationale names trade-offs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1 · 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From intent and sensory meaning to confident marks and viable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Create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Apply the topic's concepts in a real-use lab deliverable.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Evaluate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evidence and acceptance criteria to improve the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Repeat the intent in either Procreate or Sketchbook Studio.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85232" y="1627632"/>
            <a:ext cx="1627632" cy="16276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85232" y="1627632"/>
            <a:ext cx="1627632" cy="16276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60152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End-of-Day Studio Reset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08576"/>
            <a:ext cx="1036015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Save the layered master · export evidence · back up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2 · K4 · K5 · K9 · K10 · A2 · A3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9875520" cy="1353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Digital Art Techniques and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931920"/>
            <a:ext cx="8778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Brush, colour, form, layers, perspective and light as an integrated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"/>
            <a:ext cx="1828800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DFE6E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Attractiveness bias opens the door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First look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Polish creates a fast positive expectation.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Halo effect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One attractive cue can colour judgement of the whole.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Beauty may conceal poor legibility or weak function.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Responsibility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Pair appeal with honest, usable communication.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Attractiveness bias opens the door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appeal to guide attention toward useful content.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Validate comprehension after the first impression.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Treating likes as proof of effectiveness.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Making decoration compete with essential information.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After five seconds, can the viewer state both the mood and the purpose?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visually appealing design gains attention and perceived ease, but usefulness must sustain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 follows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Start from task and audience.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Organise information around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Affordance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Make interactive or instructional elements recognisable.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Beauty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craft to strengthen—not replace—function.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 follows function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Preserve legibility under stylistic treatment.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Make each prominent element earn its 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a fashionable form that blocks the task.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Assuming functional means visually dull.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Remove one decorative element: does clarity improve with no loss of meaning?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visual form should express and support what the artefact must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Line quality communicates character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Weight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Thicker lines advance; thin lines recede or feel delicate.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Taper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controlled start and finish creates energy.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Rhythm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Repeated changes make a line feel organic.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Economy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Fewer decisive lines can explain more.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procreate.com · 21-draw.com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Line quality communicates character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Warm up with long shoulder-driven strokes.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Vary weight according to light and overlap.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Scratch-building edges with many short marks.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identical weight around every form.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procreate.com · 21-draw.com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Can the silhouette read before internal detail is added?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Pressure, speed, taper, rhythm and edge confidence change both form and feeling.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procreate.com · 21-draw.com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Brushes are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Shape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stamp that forms each stroke.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Grain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Texture dragged or rolled through the mark.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Dynamics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How pressure, tilt and speed alter the stroke.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Spacing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How individual stamps merge into a 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skillshare.com · creativebloq.com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Brushes are systems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Build a small purpose-based brush set.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each brush at multiple sizes and pressures.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Changing brushes to solve a value problem.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texture before major forms are stable.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skillshare.com · creativebloq.com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VISUAL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Brushes are systems · visual reading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rush-specimen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64792"/>
            <a:ext cx="10652760" cy="4233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" y="3054096"/>
            <a:ext cx="1993392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5B6372"/>
                </a:solidFill>
                <a:latin typeface="Arial"/>
              </a:rPr>
              <a:t>GRAPHITE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3904" y="3054096"/>
            <a:ext cx="1993392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5B6372"/>
                </a:solidFill>
                <a:latin typeface="Arial"/>
              </a:rPr>
              <a:t>CHARCOAL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054096"/>
            <a:ext cx="1993392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5B6372"/>
                </a:solidFill>
                <a:latin typeface="Arial"/>
              </a:rPr>
              <a:t>DRY 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0576" y="3054096"/>
            <a:ext cx="1993392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5B6372"/>
                </a:solidFill>
                <a:latin typeface="Arial"/>
              </a:rPr>
              <a:t>INKING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389120"/>
            <a:ext cx="1993392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5B6372"/>
                </a:solidFill>
                <a:latin typeface="Arial"/>
              </a:rPr>
              <a:t>ACRYLIC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3904" y="4389120"/>
            <a:ext cx="1993392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5B6372"/>
                </a:solidFill>
                <a:latin typeface="Arial"/>
              </a:rPr>
              <a:t>AIRBRUSH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389120"/>
            <a:ext cx="1993392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5B6372"/>
                </a:solidFill>
                <a:latin typeface="Arial"/>
              </a:rPr>
              <a:t>WATERCOLOUR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4389120"/>
            <a:ext cx="1993392" cy="2103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5B6372"/>
                </a:solidFill>
                <a:latin typeface="Arial"/>
              </a:rPr>
              <a:t>PASTEL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349240"/>
            <a:ext cx="2240280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EDGE &amp; PRESSURE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75887" y="5349240"/>
            <a:ext cx="2240280" cy="43891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7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GRAIN &amp; OPACITY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5349240"/>
            <a:ext cx="2240280" cy="43891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MATERIAL MARK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5349240"/>
            <a:ext cx="2240280" cy="43891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ACCENT EFFECT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skillshare.com · creativebloq.com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Shape becomes form through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Primitive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Reduce subjects to sphere, box, cylinder and cone.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Plane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Each plane faces light differently.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Core shadow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turning point away from the light.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Cast shadow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form blocks light onto another surface.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aureolestudios.ca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Shape becomes form through value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Block simple masses before surface detail.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one clear light direction.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Blending every transition equally.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Adding highlights without explaining the planes.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aureolestudios.ca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Does the object still feel solid in greyscale?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flat shape reads as volume when light and shadow describe its planes.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aureolestudios.ca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Proportion creates believability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Envelope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Capture the outer height and width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Landmarks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Anchor major changes of direction.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Ratios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Compare one distance against another.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Negative space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Check the shapes around the subject.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21-draw.com · aureolestudios.ca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Proportion creates believability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relationships before refining contours.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Flip the canvas to reveal drift.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Correcting details before the whole.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Scaling one feature without checking neighbours.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21-draw.com · aureolestudios.ca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Which two landmarks provide the fastest reliable proportion check?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Proportion is the relationship among parts; accuracy comes from comparison, not isolated measurement.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21-draw.com · aureolestudios.ca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Colour has three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Hue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Position around the colour wheel.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Saturation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Distance from neutral grey.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Value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Relative lightness or darkness.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Temperature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Perceived warm–cool relationship.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tertiarycourses.com.sg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Colour has three coordinates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Solve value structure before fine hue shifts.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Reserve peak saturation for focal accents.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Choosing colours only from the hue wheel.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saturation to compensate for weak contrast.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tertiarycourses.com.sg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Convert to greyscale: does the focal point remain clear?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Hue names the family; saturation controls intensity; value controls lightness and hierarchy.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tertiarycourses.com.sg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Harmony is controlled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Analogous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Neighbouring hues create cohesion.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Complementary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Opposites create energetic contrast.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Split complementary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Contrast with more flexibility.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Neutral bridge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Greys and muted colours make accents meaningful.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tertiarycourses.com.sg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Harmony is controlled relationship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Assign dominant, supporting and accent roles.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Sample colours in context, not in isolation.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equal amounts of every palette colour.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Ignoring simultaneous contrast between neighbours.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tertiarycourses.com.sg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If the accent colour spreads, does it stop functioning as an accent?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palette feels coherent when colours share a logic and roles are deliberately limited.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tertiarycourses.com.sg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Value organises the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Three-value plan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Light, mid and dark groups simplify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Focal contrast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Largest local contrast attracts attention.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Atmosphere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Distant values compress toward the environment.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Readability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Key shapes separate from their background.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aureolestudios.ca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Value organises the image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a tiny greyscale study first.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Group small variations into larger families.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Rendering every local value independently.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Placing the darkest dark in an accidental corner.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aureolestudios.ca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At 10% zoom, which shapes merge and which remain distinct?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Value grouping determines readability before colour, detail or texture are perceived.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aureolestudios.ca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Light is a spatial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Direction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Where light originates and which planes face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Hard light creates crisp edges; soft light broad transitions.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Colour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Light and environment tint surfaces.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Bounce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Reflected light softens shadows without erasing them.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creativebloq.com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Light is a spatial story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Place the light source outside the canvas mentally.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shadow shape to reinforce perspective.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Adding random rim lights to every edge.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Making shadows black regardless of environment.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creativebloq.com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Can every highlight and cast shadow point back to the same source?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consistent light source explains form, time, weather and emotional tone simultaneously.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online.njit.edu · creativebloq.com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Layers separate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Sketch and guides remain editable.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Colour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Flats isolate regions and simplify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Light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Shadow, highlights and atmosphere can be tuned independently.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Finish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Texture and accents stay reversible.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skillshare.com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Layers separate decisions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Name layers by function and group related parts.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Merge only after approval or duplication.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Creating a layer for every tiny mark.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Painting corrections onto the wrong layer.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skillshare.com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VISUAL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Layers separate decisions · visual reading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cess-kingfisher-orchid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64792"/>
            <a:ext cx="10652760" cy="4233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5349240"/>
            <a:ext cx="2240280" cy="438912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SKETCH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5349240"/>
            <a:ext cx="2240280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5349240"/>
            <a:ext cx="2240280" cy="43891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7064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FLAT COLOUR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97112" y="5349240"/>
            <a:ext cx="2240280" cy="43891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LIGHT &amp; TEXTURE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skillshare.com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Masks preserve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Alpha lock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Edit only existing opaque pixels on one layer.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Clipping mask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new layer uses the base layer's silhouette.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Layer mask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Hide or reveal with greyscale information.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Opacity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Tune an effect without repainting.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creativebloq.com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Masks preserve options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clipping for reversible texture and light.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Duplicate before destructive adjustments.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Erasing when a mask would preserve options.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Stacking masks without naming their purpose.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creativebloq.com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Can the change be reduced, recoloured or removed in seconds?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Alpha lock, clipping masks and layer masks constrain paint without permanently erasing source pixels.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creativebloq.com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Selection and transform refine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Select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Freehand, automatic, rectangle or ellipse isolates an area.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Move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Reposition while maintaining layer relationships.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Scale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Uniform scaling protects proportion.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Warp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Local adjustment can clarify gesture but may degrade edges.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procreate.com · skillshare.com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Selection and transform refine structure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Transform early, before high-frequency detail.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interpolation and edge quality after scaling.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Repeatedly resizing raster content.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warp to avoid redrawing a structural error.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procreate.com · skillshare.com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Does the edit improve the whole composition, not just the selected part?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Selections isolate intent; transforms change scale, rotation, position and distortion.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procreate.com · skillshare.com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Perspective makes space credible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Horizon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viewer's eye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One-point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Depth lines converge to one 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Two-point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Two horizontal axes converge separately.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Three-point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Verticals also converge for dramatic height.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21-draw.com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Perspective makes space credible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Establish horizon and large boxes before detail.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guides as scaffolding, not visible decoration.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Assigning each object its own horizon.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Forcing curves without first constructing boxes.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21-draw.com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VISUAL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Perspective makes space credible · visual reading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spective-shophouse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64792"/>
            <a:ext cx="10652760" cy="4233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" y="5349240"/>
            <a:ext cx="2240280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ONE-POINT DEPTH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65192" y="5349240"/>
            <a:ext cx="2240280" cy="438912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CORNER PLANES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5349240"/>
            <a:ext cx="2240280" cy="43891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TWO-POINT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21-draw.com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Depth uses multiple cues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Overlap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Near forms interrupt far 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Scale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Similar objects shrink with distance.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Detail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Texture frequency reduces into depth.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Atmosphere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Distant contrast and saturation compress.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21-draw.com · online.njit.edu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Depth uses multiple cues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Combine at least three depth cues.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foreground edges and contrast purposeful.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Making every plane equally sharp.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blur where scale and overlap are wrong.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21-draw.com · online.njit.edu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Cover the perspective lines: does the scene still feel deep?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Perspective is reinforced by overlap, scale, placement, detail, edge and atmospheric contrast.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21-draw.com · online.njit.edu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Overlays and blend modes shape atmosphere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Multiply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Darkens; useful for transparent shadow colour.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Screen/Add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Lightens; useful for glow and reflected light.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Overlay/Soft Light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Modulates contrast and colour.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Opacity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Controls strength; subtlety preserves material identity.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skillshare.com · creativebloq.com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Overlays and blend modes shape atmosphere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Paint effects on named, separate layers.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 before/after at fit-to-screen size.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blend modes as random filters.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Letting atmosphere erase focal clarity.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skillshare.com · creativebloq.com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VISUAL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Overlays reshape atmosphere · visual reading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verlays-rainy-night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64792"/>
            <a:ext cx="10652760" cy="4233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05840" y="5349240"/>
            <a:ext cx="2240280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BASE COLOUR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5349240"/>
            <a:ext cx="2240280" cy="43891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ATMOSPHERE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5349240"/>
            <a:ext cx="2240280" cy="43891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5422392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FINAL 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skillshare.com · creativebloq.com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INTERMEDIATE · 75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 · Layered Colour Illustration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6903720" cy="185623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6446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REAL-USE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465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nature education campaign needs a kingfisher-and-orchid illustration that can be recoloured for different seasons.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55648"/>
            <a:ext cx="3474720" cy="1856231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93392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42032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Campaign illustrator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614476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sketch-to-finish illustration with separate line, flat colour, light and texture layers.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33087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507992"/>
            <a:ext cx="3657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Layers · alpha lock or locked layers · clipping logic · flat colour · non-destructive edits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K5 · K9 · A2 · LO2 · DISCUSS, DO NOT COPY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 · Acceptance &amp;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Layer names reveal purpose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Line, colour and light can be edited independently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Palette remains coherent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4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Before/after states exported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INTERMEDIATE · 60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 · Colour Harmony Poster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6903720" cy="185623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6446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REAL-USE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465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local café needs three colourways for the same illustrated seasonal-drink poster.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55648"/>
            <a:ext cx="3474720" cy="1856231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93392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42032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Brand illustrator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614476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Analogous, complementary and muted palette variants of one composition.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33087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507992"/>
            <a:ext cx="3657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Hue · saturation · value · harmony · palette roles · greyscale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K9 · A2 · A3 · LO2 · DISCUSS, DO NOT COPY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 · Acceptance &amp;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Three variants retain the same composition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Primary message survives greyscale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Accent colour is used selectively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4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Recommended palette justified for the audience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INTERMEDIATE · 75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 · Form, Value and Light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6903720" cy="185623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6446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REAL-USE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465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ceramics maker needs a persuasive digital study of a new cup before a photo shoot.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55648"/>
            <a:ext cx="3474720" cy="1856231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93392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42032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Product visualisation artist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614476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rendered ceramic cup using primitives, a three-value plan and consistent light.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33087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507992"/>
            <a:ext cx="3657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Primitive construction · proportion · core/cast shadow · reflected light · material edges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K10 · A2 · A3 · LO2 · DISCUSS, DO NOT COPY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 · Acceptance &amp;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Cup reads as a stable 3D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Single light direction is consistent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Cast shadow supports placement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4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Material reads as ceramic without a texture stamp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INTERMEDIATE · 75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 · One-Point Perspective: Pop-up Aisle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6903720" cy="185623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6446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REAL-USE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465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arts retailer needs a concept sketch of a compact pop-up aisle viewed from its entrance.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55648"/>
            <a:ext cx="3474720" cy="1856231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93392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42032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Environment concept artist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614476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one-point perspective interior with shelves, signs and three depth cues.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33087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507992"/>
            <a:ext cx="3657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Horizon · vanishing point · drawing guide or ruler · scale recession · overlap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K10 · A2 · LO2 · DISCUSS, DO NOT COPY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 · Acceptance &amp;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Depth edges converge consistently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Viewer eye level is deliberate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Objects scale convincingly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4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Guide layer can be hidden without losing depth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INTERMEDIATE · 90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09 · Two-Point Perspective: Shophouse Corner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6903720" cy="185623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6446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REAL-USE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465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heritage trail needs an original corner-building illustration that feels recognisably local without copying a specific property.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55648"/>
            <a:ext cx="3474720" cy="1856231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93392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42032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Urban illustrator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614476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two-point shophouse scene with a clean structural pass and coloured atmosphere.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33087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507992"/>
            <a:ext cx="3657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Two vanishing points · boxes to architecture · scale · line economy · local reference ethics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K10 · A3 · LO2 · DISCUSS, DO NOT COPY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09 · Acceptance &amp;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Two horizontal axes converge separately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Verticals remain consistent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Facade details follow planes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4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Source references and transformations recorded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ADVANCED · 75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· Overlay and Atmosphere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6903720" cy="185623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6446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REAL-USE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465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transport campaign needs a rainy-evening key visual that remains readable on digital signage.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55648"/>
            <a:ext cx="3474720" cy="1856231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93392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42032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Key visual artist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614476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Base, overlay and final versions of one rainy-night scene.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33087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507992"/>
            <a:ext cx="3657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Blend modes · opacity · rain/mist overlays · colour temperature · reflected 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K5 · K9 · A2 · A3 · LO2 · DISCUSS, DO NOT COPY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· Acceptance &amp;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Every overlay has a named physical purpose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Subject remains readable at distance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Warm/cool contrast supports focus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4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Before/after comparison shows controlled—not global—change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2 · 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Brush, colour, form, layers, perspective and light as an integrated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Create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Apply the topic's concepts in a real-use lab deliverable.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Evaluate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evidence and acceptance criteria to improve the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Repeat the intent in either Procreate or Sketchbook Studio.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85232" y="1627632"/>
            <a:ext cx="1627632" cy="16276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85232" y="1627632"/>
            <a:ext cx="1627632" cy="16276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60152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End-of-Day Studio Reset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08576"/>
            <a:ext cx="1036015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Save the layered master · export evidence · back up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509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TOPIC 3 · K6 · K7 · K8 · A4 · A5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9875520" cy="1353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Review and Enhancement of Digital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931920"/>
            <a:ext cx="8778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Critique, emotion, human factors and responsible refinement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658368"/>
            <a:ext cx="1828800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DFE6EF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Good design is fit for purpose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Useful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Solves the intended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Understandable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Communicates without avoidable friction.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Coherent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Parts share a visual logic.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Responsible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Respects people, rights and resources.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Good design is fit for purpose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Evaluate against the brief and evidence.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Distinguish preference from performance.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Calling a design good because it is polished.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Ignoring who cannot use or interpret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Which success criterion would still fail if the work won an aesthetics award?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Quality is the interaction of usefulness, clarity, coherence, craft and responsible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Critique the work, not the person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Observe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State what is visible without judgement.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Interpret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Explain the likely viewer effect.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Connect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Relate the effect to the brief or principle.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Propose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Recommend a specific change and validation.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creativebloq.com · medium.com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Critique the work, not the person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'because' to connect evidence and impact.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Invite the creator to restate the intention.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Giving taste-only feedback such as 'make it pop'.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Redesigning the work in the critic's style.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creativebloq.com · medium.com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Could the creator act on the feedback without guessing?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productive critique describes evidence, interprets impact and proposes a testable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creativebloq.com · medium.com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Feedback needs a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User evidence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Observed comprehension or emotional response.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Expert review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Principle-based diagnosis.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Stakeholder constraint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Business, brand or production requirement.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Preference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Subjective taste; useful but not automatically decisive.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creativebloq.com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med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Feedback needs a decision rule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Prioritise comments that affect success criteria.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high-impact disagreements with users.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Averaging incompatible suggestions.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Accepting seniority as a substitute for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creativebloq.com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med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What evidence would change this design decision?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Conflicting feedback becomes manageable when comments are sorted by source, evidence and goal.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creativebloq.com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med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Emotional design works on three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Visceral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First sensory impression—colour, form, texture and motion.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Behavioural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Pleasure and confidence during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Reflective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Identity, memory and values after 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Alignment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All three should support the intended association.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med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Emotional design works on three levels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Pair mood with a usable interaction or message.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symbolism that the audience can decode.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Manipulating emotion to disguise poor function.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Assuming one colour has one universal meaning.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What will the viewer feel immediately, during use and afterward?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Immediate appearance, ease of use and personal meaning combine to form the emotional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Narrative creates association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Character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subject with a goal or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Setting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Context that constrains interpretation.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Tension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gap, question or contrast.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Change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Evidence that the moment belongs to a larger sequence.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creativebloq.com · 21-draw.com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Narrative creates association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pose, lighting and props to reinforce one story.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Remove details that introduce a competing narrative.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Explaining everything literally.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Adding symbols with no audience relevance.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creativebloq.com · 21-draw.com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med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What happened five seconds before this image?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single image can imply what happened before, what matters now and what may happen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creativebloq.com · 21-draw.com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med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 factors begin with bodies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Ergonomics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Neutral wrist, supported posture and regular movement.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Vision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Scale, contrast and colour discrimination vary.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Motor control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Touch targets and gestures need tolerance.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Cognition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Working memory and attention are limited.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21-draw.com · tertiarycourses.com.sg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med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Human factors begin with bodies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Zoom instead of hunching for fine detail.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Schedule micro-breaks and alternate precision tasks.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Treating discomfort as part of artistic discipline.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Designing at one zoom level 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21-draw.com · tertiarycourses.com.sg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med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Can the work be made and understood without unnecessary physical or cognitive strain?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Grip, posture, reach, vision and sustained attention affect both the making and viewing of digital 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21-draw.com · tertiarycourses.com.sg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med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Accessibility strengthens visual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Contrast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Critical information separates from its background.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Colour independence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Meaning is not encoded by hue 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Scale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Important details survive realistic viewing conditions.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Simplicity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Sensory load is managed through hierarchy and space.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tertiarycourses.com.sg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med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Accessibility strengthens visual communication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in greyscale and at reduced size.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Pair colour with shape, pattern or position.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low contrast to appear sophisticated.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Assuming accessibility applies only to text.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tertiarycourses.com.sg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med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What essential meaning disappears for a colour-blind or low-vision viewer?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Contrast, hierarchy, colour independence and readable detail help more people without reducing artistry.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 · tertiarycourses.com.sg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med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Sustainable design is lifecycle thinking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Efficient files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Right-size canvases and exports for the real need.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Reusability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Organised masters reduce repeated labour.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Longevity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Avoid trend-only choices when work must endure.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Production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Consider ink, substrate, energy and disposal when printed.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spd="med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Sustainable design is lifecycle thinking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Archive an editable master and deliver optimised copies.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Design modular assets that can be reused.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Saving every iteration at maximum size forever.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Claiming digital output has no environmental cost.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spd="med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What resources does this design consume across creation, delivery and reuse?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Digital creation still consumes device, storage, transfer and production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tertiarycourses.com.sg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med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Refinement protects the focal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Edges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Sharp where attention is needed; soft where forms turn or recede.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Contrast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Peak light-dark difference belongs near the focal area.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Detail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Highest frequency supports meaning.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Cleanup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Tangencies and accidental marks are removed.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creativebloq.com · aureolestudios.ca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med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Refinement protects the focal hierarchy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Refine from large relationships to small accents.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Stop when extra detail no longer improves the brief.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Rendering every corner to the same finish.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Adding effects to avoid resolving composition.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creativebloq.com · aureolestudios.ca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spd="med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If 20% of the detail were removed, would the message become clearer?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Finishing is selective clarification, not equal detail everywhere.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creativebloq.com · aureolestudios.ca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spd="med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Texture must describe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Scale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Grain size changes with distance.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Direction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Marks wrap around form and 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Value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Texture variation stays subordinate to lighting.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Edge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Material properties influence softness and breakup.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skillshare.com · creativebloq.com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med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Texture must describe material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Sample texture at final viewing size.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texture to distinguish materials, not fill emptiness.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Stamping the same texture across every plane.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Letting high-frequency noise flatten the form.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skillshare.com · creativebloq.com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ransition spd="med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Could the viewer identify the material without colour?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Texture is persuasive when scale, direction, value and edge behaviour match the surface.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skillshare.com · creativebloq.com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med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Iteration is a controlled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Baseline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Preserve the current approved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Hypothesis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Predict what a change should improve.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Variant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Change one major variable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Compare evidence and record the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medium.com · creativebloq.com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  <p:transition spd="med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Iteration is a controlled experiment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Duplicate before a major change and label versions.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a short decision 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Making many simultaneous changes.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Saving files as final-final-really-final.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medium.com · creativebloq.com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ransition spd="med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What did this version test, and what did you learn?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Versions are valuable when each one tests a clear hypothesis against the brief.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medium.com · creativebloq.com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spd="med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Export is part of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Editable master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Layered Procreate or working file for future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PNG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Lossless graphics and transparency.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JPEG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Compact continuous-tone images without transparency.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PDF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Portable review or print delivery when appropriate.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spd="med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Export is part of design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Name files with project, purpose and version.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the exported file on the target device.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Using screenshots as final exports.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Discarding the layered master after approval.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ransition spd="med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Can the recipient identify the current file and use it without asking questions?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 strong artwork can fail if colour, transparency, dimensions or compression do not match delivery.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apps.apple.com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spd="med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CONCEPT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Originality requires ethical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Source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Record creator, licence and link.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Transform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Combine references and make new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Permission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owned, licensed or clearly permitted material.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Disclosure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Label generated or composited concept visuals when relevant.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wikihow.com · medium.com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ransition spd="med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APPLY 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Originality requires ethical references ·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66344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STRONG PRACTICE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69748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633472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Build a reference set from multiple sources.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49039"/>
            <a:ext cx="413308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provenance with the project file.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6636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166360" cy="100584"/>
          </a:xfrm>
          <a:prstGeom prst="rect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29968"/>
            <a:ext cx="4617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06A6A"/>
                </a:solidFill>
                <a:latin typeface="Arial"/>
              </a:rPr>
              <a:t>COMMON RISK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697480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633472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Tracing protected work for a commercial output.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813048"/>
            <a:ext cx="384048" cy="384048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13048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49039"/>
            <a:ext cx="4087368" cy="6766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Presenting generated imagery as documentary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wikihow.com · medium.com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ransition spd="med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98755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PRACTITIONER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00126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Could you explain the origin and transformation of every major element?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315968"/>
            <a:ext cx="1001268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37260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References support observation and accuracy; they do not grant permission to copy composition or style identity.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6172200"/>
            <a:ext cx="10515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Source lens: wikihow.com · medium.com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spd="med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ADVANCED · 75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11 · Critique and Accessibility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6903720" cy="185623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6446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REAL-USE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465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boutique hotel has a beautiful handwashing poster, but guests miss key instructions and report visual overload.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55648"/>
            <a:ext cx="3474720" cy="1856231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93392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42032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Design reviewer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614476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 evidence-based critique, annotated revision plan and improved draft.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33087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507992"/>
            <a:ext cx="3657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Observe–interpret–connect–propose · hierarchy · contrast · colour independence · sensory 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spd="med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K4 · K6 · K7 · K8 · A1 · A4 · LO3 · DISCUSS, DO NOT COPY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11 · Acceptance &amp;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At least five observations are evidence-based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Every proposed change maps to function or sensory appeal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Meaning survives greyscale and thumbnail checks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4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Revision keeps a credible luxury association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ransition spd="med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ADVANCED · 120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12 · Capstone: Luxury Hotel Handwashing Poster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6903720" cy="1856231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6446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REAL-USE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64465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Singapore luxury hotel commissions an elegant, inclusive handwashing poster for guest washrooms.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55648"/>
            <a:ext cx="3474720" cy="1856231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93392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42032"/>
            <a:ext cx="292608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Lead digital artist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86200"/>
            <a:ext cx="10652760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33087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07992"/>
            <a:ext cx="6144768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A4 portrait poster, working file, exported PNG/PDF, critique record and five-decision rationale.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133087"/>
            <a:ext cx="12801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507992"/>
            <a:ext cx="365760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Brief · sketch · brush · colour · form · layers · perspective/depth · overlays · critique ·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med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K1–K10 · A1–A5 · LO1–LO3 · DISCUSS, DO NOT COPY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12 · Acceptance &amp;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1336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33600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1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Instruction sequence is immediately understandable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12679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33600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33600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2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Luxury cues do not reduce legibility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43072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243072"/>
            <a:ext cx="77724" cy="12679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62102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21024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389376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3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Layered file supports revision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243072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243072"/>
            <a:ext cx="77724" cy="12679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62102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621024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3389376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4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Design passes greyscale, thumbnail and sensory-load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30496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730496"/>
            <a:ext cx="77724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51084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108448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876800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 5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Rationale documents A1–A5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spd="med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3 · 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Critique, emotion, human factors and responsible refinement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Create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Apply the topic's concepts in a real-use lab deliverable.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Evaluate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evidence and acceptance criteria to improve the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Repeat the intent in either Procreate or Sketchbook Studio.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ransition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1336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33600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Turn a brief into explicit aesthetic and sensory criteria.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12679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33600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33600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Craft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Control line, brush, colour, form, perspective, layers and light.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43072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243072"/>
            <a:ext cx="77724" cy="12679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62102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21024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389376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Judgement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Balance attractiveness and function using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243072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243072"/>
            <a:ext cx="77724" cy="12679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62102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621024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3389376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Responsibility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Review accessibility, sensory load, sustainability and reference ethics.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30496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730496"/>
            <a:ext cx="77724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51084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108448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876800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Versatility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Transfer the same visual intention across two iPad tools.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730496"/>
            <a:ext cx="5189220" cy="1267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730496"/>
            <a:ext cx="77724" cy="12679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1084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108448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5180" y="4876800"/>
            <a:ext cx="4110228" cy="10485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Present an editable master, exports, critique record and rationale.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  <p:transition spd="med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DOWNLOAD · COMPLETE ·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102412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828800"/>
            <a:ext cx="10241280" cy="502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1993392"/>
            <a:ext cx="128016" cy="128016"/>
          </a:xfrm>
          <a:prstGeom prst="ellipse">
            <a:avLst/>
          </a:prstGeom>
          <a:solidFill>
            <a:srgbClr val="F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0472" y="199339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46504" y="199339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938528"/>
            <a:ext cx="7223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788920"/>
            <a:ext cx="2423160" cy="2240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2788920"/>
            <a:ext cx="242316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3127248"/>
            <a:ext cx="20574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703320"/>
            <a:ext cx="2011680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Download the current slides, Learner Guide, Lesson Plan and lab pack.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2788920"/>
            <a:ext cx="2423160" cy="2240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2788920"/>
            <a:ext cx="24231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3127248"/>
            <a:ext cx="20574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3703320"/>
            <a:ext cx="2011680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Open the approved WA and PP papers during the assessment window.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788920"/>
            <a:ext cx="2423160" cy="2240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2788920"/>
            <a:ext cx="24231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59" y="3127248"/>
            <a:ext cx="20574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3703320"/>
            <a:ext cx="2011680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Upload completed answers and evidence to the LMS.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257800"/>
            <a:ext cx="8412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spd="med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33101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WA · 60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10 open-ended knowledge questions; answer in your own words.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874519"/>
            <a:ext cx="33101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PP · 60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5 tasks based on the luxury-hotel poster scenario.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874519"/>
            <a:ext cx="3310128" cy="397763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874519"/>
            <a:ext cx="331012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94560"/>
            <a:ext cx="283464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971800"/>
            <a:ext cx="2834640" cy="2331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Take attendance, submit on LMS and sign the Summary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ransition spd="med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940356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94035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9946" y="253288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946" y="2532888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1720900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TRAQOM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8452" y="3566160"/>
            <a:ext cx="2743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5340" y="2148840"/>
            <a:ext cx="1940356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5340" y="2148840"/>
            <a:ext cx="194035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8046" y="253288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8046" y="2532888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5068" y="3566160"/>
            <a:ext cx="1720900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6552" y="3566160"/>
            <a:ext cx="2743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33440" y="2148840"/>
            <a:ext cx="1940356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3440" y="2148840"/>
            <a:ext cx="194035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6" y="253288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6" y="2532888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3168" y="3566160"/>
            <a:ext cx="1720900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Sit WA then PP ·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4652" y="3566160"/>
            <a:ext cx="2743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1540" y="2148840"/>
            <a:ext cx="1940356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1540" y="2148840"/>
            <a:ext cx="194035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4246" y="253288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34246" y="2532888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1268" y="3566160"/>
            <a:ext cx="1720900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2752" y="3566160"/>
            <a:ext cx="2743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89640" y="2148840"/>
            <a:ext cx="1940356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89640" y="2148840"/>
            <a:ext cx="194035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2346" y="253288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12346" y="2532888"/>
            <a:ext cx="694944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9368" y="3566160"/>
            <a:ext cx="1720900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med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10625328" cy="16459"/>
          </a:xfrm>
          <a:prstGeom prst="rect">
            <a:avLst/>
          </a:prstGeom>
          <a:solidFill>
            <a:srgbClr val="DF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77724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Assessment event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Scan the SSG assessment-attendance QR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55648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55648"/>
            <a:ext cx="77724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0545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05456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5180" y="1901952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Use the required Singpass/mobile workflow shown by the trainer.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77724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Confirm the attendance response before starting.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86784"/>
            <a:ext cx="5189220" cy="20116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F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986784"/>
            <a:ext cx="77724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736592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73659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180" y="4133088"/>
            <a:ext cx="4110228" cy="17922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Record</a:t>
            </a:r>
          </a:p>
          <a:p>
            <a:pPr algn="l">
              <a:spcAft>
                <a:spcPts val="20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Attendance supports the approved WSQ course record.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spd="med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KEEP CREATING WITH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0584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767328"/>
            <a:ext cx="98755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Tertiary Infotech Academy Pte Ltd
enquiry@tertiaryinfotech.com · +65 6100 0613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ransition spd="med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447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984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66928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Creative Digital Art and Design  ·  TGS-2023037829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73952"/>
            <a:ext cx="502920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pic>
        <p:nvPicPr>
          <p:cNvPr id="40" name="Picture 39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496" y="1613916"/>
            <a:ext cx="8500703" cy="42291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777240" y="5925312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Digital Art and Design</dc:title>
  <dc:subject>WSQ TGS-2023037829 course slides</dc:subject>
  <dc:creator>Tertiary Infotech Academy Pte Ltd</dc:creator>
  <cp:keywords/>
  <dc:description>Procedural click steps are intentionally located in the Learner Guide and lab PDFs.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